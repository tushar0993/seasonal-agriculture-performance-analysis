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2" d="100"/>
          <a:sy n="72" d="100"/>
        </p:scale>
        <p:origin x="576"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anshkhotyan-cell/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24166" y="2672464"/>
            <a:ext cx="5976634" cy="1104570"/>
          </a:xfrm>
        </p:spPr>
        <p:txBody>
          <a:bodyPr>
            <a:normAutofit/>
          </a:bodyPr>
          <a:lstStyle/>
          <a:p>
            <a:r>
              <a:rPr lang="en-GB" sz="3200" b="1" dirty="0">
                <a:latin typeface="Papyrus" panose="03070502060502030205" pitchFamily="66" charset="0"/>
              </a:rPr>
              <a:t>Seasonal Agriculture Performance Analysis</a:t>
            </a:r>
            <a:endParaRPr lang="en-IN" sz="3200" b="1" dirty="0">
              <a:latin typeface="Papyrus" panose="03070502060502030205" pitchFamily="66"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24166" y="4815241"/>
            <a:ext cx="6159011" cy="369332"/>
          </a:xfrm>
          <a:prstGeom prst="rect">
            <a:avLst/>
          </a:prstGeom>
          <a:noFill/>
        </p:spPr>
        <p:txBody>
          <a:bodyPr wrap="square" rtlCol="0">
            <a:spAutoFit/>
          </a:bodyPr>
          <a:lstStyle/>
          <a:p>
            <a:r>
              <a:rPr lang="en-US" sz="1600" b="1" dirty="0">
                <a:latin typeface="Papyrus" panose="03070502060502030205" pitchFamily="66" charset="0"/>
              </a:rPr>
              <a:t>AICTE STU ID : </a:t>
            </a:r>
            <a:r>
              <a:rPr lang="en-US" b="1" dirty="0"/>
              <a:t>STU6a6a3132c25111785344306</a:t>
            </a:r>
          </a:p>
        </p:txBody>
      </p:sp>
      <p:sp>
        <p:nvSpPr>
          <p:cNvPr id="5" name="TextBox 4">
            <a:extLst>
              <a:ext uri="{FF2B5EF4-FFF2-40B4-BE49-F238E27FC236}">
                <a16:creationId xmlns:a16="http://schemas.microsoft.com/office/drawing/2014/main" id="{0C5E737B-7B7A-4EB5-87A9-800AE3756E56}"/>
              </a:ext>
            </a:extLst>
          </p:cNvPr>
          <p:cNvSpPr txBox="1"/>
          <p:nvPr/>
        </p:nvSpPr>
        <p:spPr>
          <a:xfrm>
            <a:off x="424166" y="3744683"/>
            <a:ext cx="1531188" cy="584775"/>
          </a:xfrm>
          <a:prstGeom prst="rect">
            <a:avLst/>
          </a:prstGeom>
          <a:noFill/>
        </p:spPr>
        <p:txBody>
          <a:bodyPr wrap="none" rtlCol="0">
            <a:spAutoFit/>
          </a:bodyPr>
          <a:lstStyle/>
          <a:p>
            <a:r>
              <a:rPr lang="en-US" sz="3200" b="1" dirty="0">
                <a:latin typeface="Papyrus" panose="03070502060502030205" pitchFamily="66" charset="0"/>
              </a:rPr>
              <a:t>Tushar</a:t>
            </a:r>
          </a:p>
        </p:txBody>
      </p:sp>
      <p:sp>
        <p:nvSpPr>
          <p:cNvPr id="7" name="TextBox 6">
            <a:extLst>
              <a:ext uri="{FF2B5EF4-FFF2-40B4-BE49-F238E27FC236}">
                <a16:creationId xmlns:a16="http://schemas.microsoft.com/office/drawing/2014/main" id="{A87C5B59-25C8-40EC-8B37-CDB4A0594E8B}"/>
              </a:ext>
            </a:extLst>
          </p:cNvPr>
          <p:cNvSpPr txBox="1"/>
          <p:nvPr/>
        </p:nvSpPr>
        <p:spPr>
          <a:xfrm>
            <a:off x="424166" y="4300024"/>
            <a:ext cx="6178294" cy="461665"/>
          </a:xfrm>
          <a:prstGeom prst="rect">
            <a:avLst/>
          </a:prstGeom>
          <a:noFill/>
        </p:spPr>
        <p:txBody>
          <a:bodyPr wrap="none" rtlCol="0">
            <a:spAutoFit/>
          </a:bodyPr>
          <a:lstStyle/>
          <a:p>
            <a:r>
              <a:rPr lang="en-US" sz="2400" b="1" dirty="0">
                <a:latin typeface="Papyrus" panose="03070502060502030205" pitchFamily="66" charset="0"/>
              </a:rPr>
              <a:t>( Netaji Subhas University Of Technology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83872" y="1849052"/>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311878"/>
            <a:ext cx="6995604" cy="790111"/>
          </a:xfrm>
        </p:spPr>
        <p:txBody>
          <a:bodyPr>
            <a:normAutofit fontScale="90000"/>
          </a:bodyPr>
          <a:lstStyle/>
          <a:p>
            <a:r>
              <a:rPr lang="en-US" dirty="0">
                <a:latin typeface="Papyrus" panose="03070502060502030205" pitchFamily="66" charset="0"/>
              </a:rPr>
              <a:t>PROBLEM  STATEMENT</a:t>
            </a:r>
            <a:endParaRPr lang="en-IN" dirty="0">
              <a:latin typeface="Papyrus" panose="03070502060502030205" pitchFamily="66"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008936"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sz="3200" dirty="0">
                <a:latin typeface="Papyrus" panose="03070502060502030205" pitchFamily="66" charset="0"/>
              </a:rPr>
              <a:t>Project Description</a:t>
            </a:r>
          </a:p>
        </p:txBody>
      </p:sp>
      <p:sp>
        <p:nvSpPr>
          <p:cNvPr id="9" name="Content Placeholder 8"/>
          <p:cNvSpPr txBox="1">
            <a:spLocks noGrp="1"/>
          </p:cNvSpPr>
          <p:nvPr/>
        </p:nvSpPr>
        <p:spPr>
          <a:xfrm>
            <a:off x="660399" y="2130000"/>
            <a:ext cx="10800000" cy="3200400"/>
          </a:xfrm>
          <a:prstGeom prst="rect">
            <a:avLst/>
          </a:prstGeom>
        </p:spPr>
        <p:txBody>
          <a:bodyPr wrap="square">
            <a:normAutofit/>
          </a:bodyPr>
          <a:lstStyle/>
          <a:p>
            <a:pPr algn="just">
              <a:lnSpc>
                <a:spcPct val="130000"/>
              </a:lnSpc>
            </a:pPr>
            <a:r>
              <a:rPr lang="en-GB" sz="1800" dirty="0"/>
              <a:t>This project analyzes a farm-level agricultural dataset covering 4,000 records across 8 Indian states, 8 crops and 3 growing seasons (Kharif, Rabi and Zaid). It studies how rainfall, temperature, irrigation method and farming practices relate to yield, resource usage and profitability, and compares performance season by season using univariate, bivariate and multivariate analysis. The goal is to move from raw records to clear, evidence-based insights and recommendations about which seasons, crops and irrigation methods perform best.</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2000" dirty="0"/>
              <a:t>Farmers and farming cooperatives planning crops season-wise</a:t>
            </a:r>
            <a:endParaRPr lang="en-IN" sz="3600" dirty="0"/>
          </a:p>
          <a:p>
            <a:r>
              <a:rPr lang="en-IN" sz="2000" dirty="0"/>
              <a:t>Agricultural extension officers and district agriculture departments</a:t>
            </a:r>
          </a:p>
          <a:p>
            <a:r>
              <a:rPr lang="en-IN" sz="2000" dirty="0"/>
              <a:t>Irrigation planners deciding on drip / sprinkler / flood adoption</a:t>
            </a:r>
          </a:p>
          <a:p>
            <a:r>
              <a:rPr lang="en-IN" sz="2000" dirty="0"/>
              <a:t>Agri-business and supply chain analysts forecasting production</a:t>
            </a:r>
          </a:p>
          <a:p>
            <a:r>
              <a:rPr lang="en-IN" sz="2000" dirty="0"/>
              <a:t>Policy makers designing seasonal subsidy or advisory programs</a:t>
            </a:r>
          </a:p>
          <a:p>
            <a:r>
              <a:rPr lang="en-IN" sz="2000" dirty="0"/>
              <a:t>Students and researchers studying seasonal agricultural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Papyrus" panose="03070502060502030205" pitchFamily="66" charset="0"/>
              </a:rPr>
              <a:t>WHO ARE THE END USERS?</a:t>
            </a:r>
            <a:endParaRPr lang="en-IN" sz="2000" dirty="0">
              <a:latin typeface="Papyrus" panose="03070502060502030205" pitchFamily="66"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00000"/>
              </a:lnSpc>
            </a:pPr>
            <a:r>
              <a:rPr lang="en-IN" sz="1800" dirty="0"/>
              <a:t>Python 3</a:t>
            </a:r>
            <a:endParaRPr lang="en-IN" dirty="0"/>
          </a:p>
          <a:p>
            <a:pPr>
              <a:lnSpc>
                <a:spcPct val="100000"/>
              </a:lnSpc>
            </a:pPr>
            <a:r>
              <a:rPr lang="en-IN" sz="1800" dirty="0"/>
              <a:t>Pandas &amp; NumPy - data cleaning and aggregation</a:t>
            </a:r>
          </a:p>
          <a:p>
            <a:pPr>
              <a:lnSpc>
                <a:spcPct val="100000"/>
              </a:lnSpc>
            </a:pPr>
            <a:r>
              <a:rPr lang="en-IN" sz="1800" dirty="0"/>
              <a:t>Matplotlib &amp; Seaborn - visualization</a:t>
            </a:r>
          </a:p>
          <a:p>
            <a:pPr>
              <a:lnSpc>
                <a:spcPct val="100000"/>
              </a:lnSpc>
            </a:pPr>
            <a:r>
              <a:rPr lang="en-IN" sz="1800" dirty="0"/>
              <a:t>Google Colab - notebook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Papyrus" panose="03070502060502030205" pitchFamily="66"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4532147" cy="830997"/>
          </a:xfrm>
        </p:spPr>
        <p:txBody>
          <a:bodyPr>
            <a:normAutofit/>
          </a:bodyPr>
          <a:lstStyle/>
          <a:p>
            <a:r>
              <a:rPr lang="en-GB" dirty="0">
                <a:latin typeface="Papyrus" panose="03070502060502030205" pitchFamily="66" charset="0"/>
              </a:rPr>
              <a:t>RESULTS </a:t>
            </a:r>
            <a:endParaRPr lang="en-IN" dirty="0">
              <a:latin typeface="Papyrus" panose="03070502060502030205" pitchFamily="66"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14039" y="2556470"/>
            <a:ext cx="3343561"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800" b="1" dirty="0"/>
              <a:t>4,000 farm records</a:t>
            </a:r>
            <a:endParaRPr lang="en-GB" sz="1800" dirty="0"/>
          </a:p>
          <a:p>
            <a:r>
              <a:rPr lang="en-GB" sz="1800" b="1" dirty="0"/>
              <a:t>analyzed across</a:t>
            </a:r>
          </a:p>
          <a:p>
            <a:r>
              <a:rPr lang="en-GB" sz="1800" b="1" dirty="0"/>
              <a:t>8 states &amp; 3 seasons</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19190" y="2640345"/>
            <a:ext cx="3343561"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800" b="1" dirty="0"/>
              <a:t>Kharif profit margin ~25%</a:t>
            </a:r>
            <a:endParaRPr lang="en-GB" sz="1800" dirty="0"/>
          </a:p>
          <a:p>
            <a:r>
              <a:rPr lang="en-GB" sz="1800" b="1" dirty="0"/>
              <a:t>vs. Zaid season</a:t>
            </a:r>
          </a:p>
          <a:p>
            <a:r>
              <a:rPr lang="en-GB" sz="1800" b="1" dirty="0"/>
              <a:t>running an overall loss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8" y="370589"/>
            <a:ext cx="4585156" cy="696231"/>
          </a:xfrm>
        </p:spPr>
        <p:txBody>
          <a:bodyPr>
            <a:normAutofit fontScale="90000"/>
          </a:bodyPr>
          <a:lstStyle/>
          <a:p>
            <a:r>
              <a:rPr lang="en-GB" dirty="0">
                <a:latin typeface="Papyrus" panose="03070502060502030205" pitchFamily="66"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normAutofit fontScale="85000" lnSpcReduction="10000"/>
          </a:bodyPr>
          <a:lstStyle/>
          <a:p>
            <a:pPr marL="0" indent="0">
              <a:buNone/>
            </a:pPr>
            <a:r>
              <a:rPr lang="en-US" sz="2200" b="1" dirty="0"/>
              <a:t>Dataset Overview &amp; Missing Values</a:t>
            </a:r>
            <a:endParaRPr lang="en-IN" dirty="0"/>
          </a:p>
        </p:txBody>
      </p:sp>
      <p:pic>
        <p:nvPicPr>
          <p:cNvPr id="31" name="Picture 30" descr="card_season_dist.png"/>
          <p:cNvPicPr>
            <a:picLocks noChangeAspect="1"/>
          </p:cNvPicPr>
          <p:nvPr/>
        </p:nvPicPr>
        <p:blipFill>
          <a:blip r:embed="rId3"/>
          <a:stretch>
            <a:fillRect/>
          </a:stretch>
        </p:blipFill>
        <p:spPr>
          <a:xfrm>
            <a:off x="1421547" y="2150000"/>
            <a:ext cx="3627906" cy="4200000"/>
          </a:xfrm>
          <a:prstGeom prst="rect">
            <a:avLst/>
          </a:prstGeom>
        </p:spPr>
      </p:pic>
      <p:pic>
        <p:nvPicPr>
          <p:cNvPr id="32" name="Picture 31" descr="card_missing_values.png"/>
          <p:cNvPicPr>
            <a:picLocks noChangeAspect="1"/>
          </p:cNvPicPr>
          <p:nvPr/>
        </p:nvPicPr>
        <p:blipFill>
          <a:blip r:embed="rId4"/>
          <a:stretch>
            <a:fillRect/>
          </a:stretch>
        </p:blipFill>
        <p:spPr>
          <a:xfrm>
            <a:off x="7086637" y="2150000"/>
            <a:ext cx="3739726" cy="420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90"/>
            <a:ext cx="4598408" cy="279616"/>
          </a:xfrm>
        </p:spPr>
        <p:txBody>
          <a:bodyPr>
            <a:normAutofit fontScale="90000"/>
          </a:bodyPr>
          <a:lstStyle/>
          <a:p>
            <a:r>
              <a:rPr lang="en-GB" dirty="0">
                <a:latin typeface="Papyrus" panose="03070502060502030205" pitchFamily="66"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sz="2200" b="1" dirty="0"/>
              <a:t>Statistical Analysis &amp; Crop Mix</a:t>
            </a:r>
            <a:endParaRPr lang="en-IN" dirty="0"/>
          </a:p>
        </p:txBody>
      </p:sp>
      <p:pic>
        <p:nvPicPr>
          <p:cNvPr id="31" name="Picture 30" descr="card_stats.png"/>
          <p:cNvPicPr>
            <a:picLocks noChangeAspect="1"/>
          </p:cNvPicPr>
          <p:nvPr/>
        </p:nvPicPr>
        <p:blipFill>
          <a:blip r:embed="rId3"/>
          <a:stretch>
            <a:fillRect/>
          </a:stretch>
        </p:blipFill>
        <p:spPr>
          <a:xfrm>
            <a:off x="500000" y="2566615"/>
            <a:ext cx="5471000" cy="3366769"/>
          </a:xfrm>
          <a:prstGeom prst="rect">
            <a:avLst/>
          </a:prstGeom>
        </p:spPr>
      </p:pic>
      <p:pic>
        <p:nvPicPr>
          <p:cNvPr id="32" name="Picture 31" descr="card_crop_dist.png"/>
          <p:cNvPicPr>
            <a:picLocks noChangeAspect="1"/>
          </p:cNvPicPr>
          <p:nvPr/>
        </p:nvPicPr>
        <p:blipFill>
          <a:blip r:embed="rId4"/>
          <a:stretch>
            <a:fillRect/>
          </a:stretch>
        </p:blipFill>
        <p:spPr>
          <a:xfrm>
            <a:off x="6844314" y="2150000"/>
            <a:ext cx="4224371" cy="420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90"/>
            <a:ext cx="4121330" cy="477520"/>
          </a:xfrm>
        </p:spPr>
        <p:txBody>
          <a:bodyPr>
            <a:normAutofit fontScale="90000"/>
          </a:bodyPr>
          <a:lstStyle/>
          <a:p>
            <a:r>
              <a:rPr lang="en-GB" dirty="0">
                <a:latin typeface="Papyrus" panose="03070502060502030205" pitchFamily="66" charset="0"/>
              </a:rPr>
              <a:t>RESULTS </a:t>
            </a:r>
            <a:endParaRPr lang="en-IN" dirty="0">
              <a:latin typeface="Papyrus" panose="03070502060502030205" pitchFamily="66"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sz="2200" b="1" dirty="0"/>
              <a:t>Profit &amp; Irrigation Efficiency by Season</a:t>
            </a:r>
            <a:endParaRPr lang="en-IN" dirty="0"/>
          </a:p>
        </p:txBody>
      </p:sp>
      <p:pic>
        <p:nvPicPr>
          <p:cNvPr id="31" name="Picture 30" descr="card_profit_box.png"/>
          <p:cNvPicPr>
            <a:picLocks noChangeAspect="1"/>
          </p:cNvPicPr>
          <p:nvPr/>
        </p:nvPicPr>
        <p:blipFill>
          <a:blip r:embed="rId3"/>
          <a:stretch>
            <a:fillRect/>
          </a:stretch>
        </p:blipFill>
        <p:spPr>
          <a:xfrm>
            <a:off x="1368833" y="2150000"/>
            <a:ext cx="3733333" cy="4200000"/>
          </a:xfrm>
          <a:prstGeom prst="rect">
            <a:avLst/>
          </a:prstGeom>
        </p:spPr>
      </p:pic>
      <p:pic>
        <p:nvPicPr>
          <p:cNvPr id="32" name="Picture 31" descr="card_irrigation_eff.png"/>
          <p:cNvPicPr>
            <a:picLocks noChangeAspect="1"/>
          </p:cNvPicPr>
          <p:nvPr/>
        </p:nvPicPr>
        <p:blipFill>
          <a:blip r:embed="rId4"/>
          <a:stretch>
            <a:fillRect/>
          </a:stretch>
        </p:blipFill>
        <p:spPr>
          <a:xfrm>
            <a:off x="7093019" y="2150000"/>
            <a:ext cx="3726962" cy="420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3869539" cy="830997"/>
          </a:xfrm>
        </p:spPr>
        <p:txBody>
          <a:bodyPr>
            <a:normAutofit fontScale="90000"/>
          </a:bodyPr>
          <a:lstStyle/>
          <a:p>
            <a:r>
              <a:rPr lang="en-GB" dirty="0">
                <a:latin typeface="Papyrus" panose="03070502060502030205" pitchFamily="66"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sz="2200" b="1" dirty="0"/>
              <a:t>Correlation &amp; Seasonal Profit Margin</a:t>
            </a:r>
            <a:endParaRPr lang="en-IN" dirty="0"/>
          </a:p>
        </p:txBody>
      </p:sp>
      <p:pic>
        <p:nvPicPr>
          <p:cNvPr id="31" name="Picture 30" descr="card_corr_heat.png"/>
          <p:cNvPicPr>
            <a:picLocks noChangeAspect="1"/>
          </p:cNvPicPr>
          <p:nvPr/>
        </p:nvPicPr>
        <p:blipFill>
          <a:blip r:embed="rId3"/>
          <a:stretch>
            <a:fillRect/>
          </a:stretch>
        </p:blipFill>
        <p:spPr>
          <a:xfrm>
            <a:off x="1510382" y="2150000"/>
            <a:ext cx="3450236" cy="4200000"/>
          </a:xfrm>
          <a:prstGeom prst="rect">
            <a:avLst/>
          </a:prstGeom>
        </p:spPr>
      </p:pic>
      <p:pic>
        <p:nvPicPr>
          <p:cNvPr id="32" name="Picture 31" descr="card_margin_chart.png"/>
          <p:cNvPicPr>
            <a:picLocks noChangeAspect="1"/>
          </p:cNvPicPr>
          <p:nvPr/>
        </p:nvPicPr>
        <p:blipFill>
          <a:blip r:embed="rId4"/>
          <a:stretch>
            <a:fillRect/>
          </a:stretch>
        </p:blipFill>
        <p:spPr>
          <a:xfrm>
            <a:off x="7192364" y="2150000"/>
            <a:ext cx="3528271" cy="420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Papyrus" panose="03070502060502030205" pitchFamily="66"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16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b="1" dirty="0"/>
              <a:t>Extend to district-level</a:t>
            </a:r>
            <a:endParaRPr lang="en-GB" sz="2000" dirty="0"/>
          </a:p>
          <a:p>
            <a:r>
              <a:rPr lang="en-GB" sz="2000" b="1" dirty="0"/>
              <a:t>geospatial analysis</a:t>
            </a:r>
          </a:p>
          <a:p>
            <a:r>
              <a:rPr lang="en-GB" sz="2000" b="1" dirty="0"/>
              <a:t>using GIS mapping</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16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b="1" dirty="0"/>
              <a:t>Add year-over-year data</a:t>
            </a:r>
            <a:endParaRPr lang="en-GB" sz="2000" dirty="0"/>
          </a:p>
          <a:p>
            <a:r>
              <a:rPr lang="en-GB" sz="2000" b="1" dirty="0"/>
              <a:t>to study multi-year</a:t>
            </a:r>
          </a:p>
          <a:p>
            <a:r>
              <a:rPr lang="en-GB" sz="2000" b="1" dirty="0"/>
              <a:t>seasonal trends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Papyrus" panose="03070502060502030205" pitchFamily="66"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201586"/>
            <a:ext cx="7232875" cy="646331"/>
          </a:xfrm>
          <a:prstGeom prst="rect">
            <a:avLst/>
          </a:prstGeom>
          <a:noFill/>
        </p:spPr>
        <p:txBody>
          <a:bodyPr wrap="square">
            <a:spAutoFit/>
          </a:bodyPr>
          <a:lstStyle/>
          <a:p>
            <a:r>
              <a:rPr lang="en-US" dirty="0">
                <a:hlinkClick r:id="rId3"/>
              </a:rPr>
              <a:t>https://github.com/tushar0993/seasonal-agriculture-performance-analysis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630113" y="289560"/>
            <a:ext cx="8351388" cy="884658"/>
          </a:xfrm>
        </p:spPr>
        <p:txBody>
          <a:bodyPr>
            <a:normAutofit fontScale="90000"/>
          </a:bodyPr>
          <a:lstStyle/>
          <a:p>
            <a:pPr algn="ctr"/>
            <a:r>
              <a:rPr lang="en-IN" sz="3200" dirty="0">
                <a:latin typeface="Papyrus" panose="03070502060502030205" pitchFamily="66" charset="0"/>
              </a:rPr>
              <a:t>VOIS Course completion certificate </a:t>
            </a:r>
            <a:br>
              <a:rPr lang="en-IN" sz="3200" dirty="0">
                <a:latin typeface="Papyrus" panose="03070502060502030205" pitchFamily="66" charset="0"/>
              </a:rPr>
            </a:br>
            <a:r>
              <a:rPr lang="en-IN" sz="3200" dirty="0">
                <a:latin typeface="Papyrus" panose="03070502060502030205" pitchFamily="66"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FF07AED-5533-4CE5-8C94-D5FA78DE3143}"/>
              </a:ext>
            </a:extLst>
          </p:cNvPr>
          <p:cNvPicPr>
            <a:picLocks noChangeAspect="1"/>
          </p:cNvPicPr>
          <p:nvPr/>
        </p:nvPicPr>
        <p:blipFill>
          <a:blip r:embed="rId3"/>
          <a:stretch>
            <a:fillRect/>
          </a:stretch>
        </p:blipFill>
        <p:spPr>
          <a:xfrm>
            <a:off x="2302205" y="1319432"/>
            <a:ext cx="7430537" cy="524900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21635" y="647699"/>
            <a:ext cx="12593635" cy="4878457"/>
          </a:xfrm>
          <a:prstGeom prst="rect">
            <a:avLst/>
          </a:prstGeom>
        </p:spPr>
        <p:txBody>
          <a:bodyPr anchor="ctr">
            <a:noAutofit/>
          </a:bodyPr>
          <a:lstStyle/>
          <a:p>
            <a:pPr algn="ctr"/>
            <a:r>
              <a:rPr lang="en-US" sz="9600" b="1" i="1" dirty="0">
                <a:solidFill>
                  <a:schemeClr val="tx1"/>
                </a:solidFill>
                <a:latin typeface="Palace Script MT" panose="030303020206070C0B05" pitchFamily="66" charset="0"/>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infopath/2007/PartnerControls"/>
    <ds:schemaRef ds:uri="71af3243-3dd4-4a8d-8c0d-dd76da1f02a5"/>
    <ds:schemaRef ds:uri="http://purl.org/dc/dcmitype/"/>
    <ds:schemaRef ds:uri="http://www.w3.org/XML/1998/namespace"/>
    <ds:schemaRef ds:uri="http://schemas.microsoft.com/office/2006/metadata/properties"/>
    <ds:schemaRef ds:uri="http://purl.org/dc/terms/"/>
    <ds:schemaRef ds:uri="http://schemas.microsoft.com/office/2006/documentManagement/types"/>
    <ds:schemaRef ds:uri="http://schemas.openxmlformats.org/package/2006/metadata/core-properties"/>
    <ds:schemaRef ds:uri="16c05727-aa75-4e4a-9b5f-8a80a1165891"/>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Facet</Template>
  <TotalTime>1404</TotalTime>
  <Words>367</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Palace Script MT</vt:lpstr>
      <vt:lpstr>Papyrus</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Tushar Tushar</cp:lastModifiedBy>
  <cp:revision>103</cp:revision>
  <dcterms:created xsi:type="dcterms:W3CDTF">2021-07-11T13:13:15Z</dcterms:created>
  <dcterms:modified xsi:type="dcterms:W3CDTF">2026-09-15T11:46:35Z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